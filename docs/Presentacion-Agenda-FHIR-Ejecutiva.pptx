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6" r:id="rId12"/>
    <p:sldId id="262" r:id="rId13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2011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05" y="1097280"/>
            <a:ext cx="12191695" cy="1097280"/>
          </a:xfrm>
          <a:prstGeom prst="rect">
            <a:avLst/>
          </a:prstGeom>
          <a:solidFill>
            <a:srgbClr val="0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823264" y="411480"/>
            <a:ext cx="1188720" cy="11887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80456" y="685801"/>
            <a:ext cx="46519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dirty="0">
                <a:solidFill>
                  <a:srgbClr val="0066CC"/>
                </a:solidFill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584" y="576072"/>
            <a:ext cx="255069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FFFFF"/>
                </a:solidFill>
                <a:latin typeface="Roboto"/>
              </a:rPr>
              <a:t>ACME 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585" y="1280161"/>
            <a:ext cx="329288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>
                <a:solidFill>
                  <a:srgbClr val="D4E3FF"/>
                </a:solidFill>
                <a:latin typeface="Roboto"/>
              </a:rPr>
              <a:t>Sistema de Agenda FHIR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264" y="2651761"/>
            <a:ext cx="596349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CO" sz="4400" b="1" dirty="0" err="1">
                <a:solidFill>
                  <a:srgbClr val="004999"/>
                </a:solidFill>
                <a:latin typeface="Roboto"/>
              </a:rPr>
              <a:t>Presentaci</a:t>
            </a:r>
            <a:r>
              <a:rPr lang="es-ES" sz="4400" b="1" dirty="0" err="1">
                <a:solidFill>
                  <a:srgbClr val="004999"/>
                </a:solidFill>
                <a:latin typeface="Roboto"/>
              </a:rPr>
              <a:t>ón</a:t>
            </a:r>
            <a:r>
              <a:rPr sz="4400" b="1" dirty="0">
                <a:solidFill>
                  <a:srgbClr val="004999"/>
                </a:solidFill>
                <a:latin typeface="Roboto"/>
              </a:rPr>
              <a:t> </a:t>
            </a:r>
            <a:r>
              <a:rPr lang="es-ES" sz="4400" b="1" dirty="0">
                <a:solidFill>
                  <a:srgbClr val="004999"/>
                </a:solidFill>
                <a:latin typeface="Roboto"/>
              </a:rPr>
              <a:t>Proyecto</a:t>
            </a:r>
            <a:endParaRPr sz="4400" b="1" dirty="0">
              <a:solidFill>
                <a:srgbClr val="004999"/>
              </a:solidFill>
              <a:latin typeface="Robo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3264" y="3878403"/>
            <a:ext cx="76525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rgbClr val="44464F"/>
                </a:solidFill>
                <a:latin typeface="Roboto"/>
              </a:rPr>
              <a:t>Unificación de agendas medicas multicanal con interoperabilidad FHIR, trazabilidad y seguridad</a:t>
            </a:r>
            <a:r>
              <a:rPr sz="2400" dirty="0">
                <a:solidFill>
                  <a:srgbClr val="44464F"/>
                </a:solidFill>
                <a:latin typeface="Roboto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" y="6355080"/>
            <a:ext cx="12191695" cy="5029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90044" y="6473953"/>
            <a:ext cx="29145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4464F"/>
                </a:solidFill>
                <a:latin typeface="Roboto"/>
              </a:rPr>
              <a:t>Agenda FHIR ACME Salud | 04/05/2026 | Slide 1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21039" y="146304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6CC"/>
                </a:solidFill>
              </a:rPr>
              <a:t>ACME SALUD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1"/>
            <a:ext cx="31229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4999"/>
                </a:solidFill>
                <a:latin typeface="Roboto"/>
              </a:rPr>
              <a:t>Contexto y Reto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828801"/>
            <a:ext cx="7680308" cy="1831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 dirty="0">
                <a:solidFill>
                  <a:srgbClr val="1C1B1F"/>
                </a:solidFill>
                <a:latin typeface="Roboto"/>
              </a:rPr>
              <a:t>3 </a:t>
            </a:r>
            <a:r>
              <a:rPr lang="es-CO" sz="2200" dirty="0">
                <a:solidFill>
                  <a:srgbClr val="1C1B1F"/>
                </a:solidFill>
                <a:latin typeface="Roboto"/>
              </a:rPr>
              <a:t>sedes</a:t>
            </a:r>
            <a:r>
              <a:rPr sz="2200" dirty="0">
                <a:solidFill>
                  <a:srgbClr val="1C1B1F"/>
                </a:solidFill>
                <a:latin typeface="Roboto"/>
              </a:rPr>
              <a:t> de </a:t>
            </a:r>
            <a:r>
              <a:rPr lang="es-CO" sz="2200" dirty="0">
                <a:solidFill>
                  <a:srgbClr val="1C1B1F"/>
                </a:solidFill>
                <a:latin typeface="Roboto"/>
              </a:rPr>
              <a:t>atención</a:t>
            </a:r>
            <a:r>
              <a:rPr sz="2200" dirty="0">
                <a:solidFill>
                  <a:srgbClr val="1C1B1F"/>
                </a:solidFill>
                <a:latin typeface="Roboto"/>
              </a:rPr>
              <a:t> y 4 </a:t>
            </a:r>
            <a:r>
              <a:rPr lang="es-CO" sz="2200" dirty="0">
                <a:solidFill>
                  <a:srgbClr val="1C1B1F"/>
                </a:solidFill>
                <a:latin typeface="Roboto"/>
              </a:rPr>
              <a:t>canales</a:t>
            </a:r>
            <a:r>
              <a:rPr sz="2200" dirty="0">
                <a:solidFill>
                  <a:srgbClr val="1C1B1F"/>
                </a:solidFill>
                <a:latin typeface="Roboto"/>
              </a:rPr>
              <a:t> de </a:t>
            </a:r>
            <a:r>
              <a:rPr lang="es-CO" sz="2200" dirty="0">
                <a:solidFill>
                  <a:srgbClr val="1C1B1F"/>
                </a:solidFill>
                <a:latin typeface="Roboto"/>
              </a:rPr>
              <a:t>solicitud</a:t>
            </a:r>
            <a:r>
              <a:rPr sz="2200" dirty="0">
                <a:solidFill>
                  <a:srgbClr val="1C1B1F"/>
                </a:solidFill>
                <a:latin typeface="Roboto"/>
              </a:rPr>
              <a:t> de </a:t>
            </a:r>
            <a:r>
              <a:rPr lang="es-CO" sz="2200" dirty="0">
                <a:solidFill>
                  <a:srgbClr val="1C1B1F"/>
                </a:solidFill>
                <a:latin typeface="Roboto"/>
              </a:rPr>
              <a:t>citas</a:t>
            </a:r>
            <a:r>
              <a:rPr sz="2200" dirty="0">
                <a:solidFill>
                  <a:srgbClr val="1C1B1F"/>
                </a:solidFill>
                <a:latin typeface="Roboto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2200" dirty="0">
                <a:solidFill>
                  <a:srgbClr val="1C1B1F"/>
                </a:solidFill>
                <a:latin typeface="Roboto"/>
              </a:rPr>
              <a:t>Alta </a:t>
            </a:r>
            <a:r>
              <a:rPr lang="es-CO" sz="2200" dirty="0">
                <a:solidFill>
                  <a:srgbClr val="1C1B1F"/>
                </a:solidFill>
                <a:latin typeface="Roboto"/>
              </a:rPr>
              <a:t>demanda</a:t>
            </a:r>
            <a:r>
              <a:rPr sz="2200" dirty="0">
                <a:solidFill>
                  <a:srgbClr val="1C1B1F"/>
                </a:solidFill>
                <a:latin typeface="Roboto"/>
              </a:rPr>
              <a:t> </a:t>
            </a:r>
            <a:r>
              <a:rPr lang="es-CO" sz="2200" dirty="0">
                <a:solidFill>
                  <a:srgbClr val="1C1B1F"/>
                </a:solidFill>
                <a:latin typeface="Roboto"/>
              </a:rPr>
              <a:t>en especialidades criticas</a:t>
            </a:r>
            <a:r>
              <a:rPr sz="2200" dirty="0">
                <a:solidFill>
                  <a:srgbClr val="1C1B1F"/>
                </a:solidFill>
                <a:latin typeface="Roboto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s-CO" sz="2200" dirty="0">
                <a:solidFill>
                  <a:srgbClr val="1C1B1F"/>
                </a:solidFill>
                <a:latin typeface="Roboto"/>
              </a:rPr>
              <a:t>Procesos fragmentados con riesgo de doble agendamiento.</a:t>
            </a:r>
          </a:p>
          <a:p>
            <a:pPr>
              <a:spcAft>
                <a:spcPts val="1000"/>
              </a:spcAft>
            </a:pPr>
            <a:r>
              <a:rPr lang="es-CO" sz="2200" dirty="0">
                <a:solidFill>
                  <a:srgbClr val="1C1B1F"/>
                </a:solidFill>
                <a:latin typeface="Roboto"/>
              </a:rPr>
              <a:t>Necesidad de interoperabilidad y visión unificada</a:t>
            </a:r>
            <a:r>
              <a:rPr sz="2200" dirty="0">
                <a:solidFill>
                  <a:srgbClr val="1C1B1F"/>
                </a:solidFill>
                <a:latin typeface="Roboto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89739" y="6473953"/>
            <a:ext cx="29145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4464F"/>
                </a:solidFill>
                <a:latin typeface="Roboto"/>
              </a:rPr>
              <a:t>Agenda FHIR ACME Salud | 04/05/2026 | Slide 2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56FA2233-0691-46FD-A497-AF038F941B5A}"/>
              </a:ext>
            </a:extLst>
          </p:cNvPr>
          <p:cNvSpPr/>
          <p:nvPr/>
        </p:nvSpPr>
        <p:spPr>
          <a:xfrm>
            <a:off x="10462412" y="146304"/>
            <a:ext cx="1508760" cy="475488"/>
          </a:xfrm>
          <a:prstGeom prst="roundRect">
            <a:avLst/>
          </a:prstGeom>
          <a:solidFill>
            <a:srgbClr val="00A859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FHIR R4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21344" y="146304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6CC"/>
                </a:solidFill>
              </a:rPr>
              <a:t>ACME SALUD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2412" y="146304"/>
            <a:ext cx="1508760" cy="475488"/>
          </a:xfrm>
          <a:prstGeom prst="roundRect">
            <a:avLst/>
          </a:prstGeom>
          <a:solidFill>
            <a:srgbClr val="00A859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FHIR 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944" y="1051561"/>
            <a:ext cx="371768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4999"/>
                </a:solidFill>
                <a:latin typeface="Roboto"/>
              </a:rPr>
              <a:t>Propuesta de Valor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824" y="1920240"/>
            <a:ext cx="5440680" cy="4114800"/>
          </a:xfrm>
          <a:prstGeom prst="roundRect">
            <a:avLst/>
          </a:prstGeom>
          <a:solidFill>
            <a:srgbClr val="D4E3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200" b="1" dirty="0">
                <a:solidFill>
                  <a:srgbClr val="004999"/>
                </a:solidFill>
                <a:latin typeface="Roboto"/>
              </a:rPr>
              <a:t>Que implementamos</a:t>
            </a:r>
          </a:p>
          <a:p>
            <a:pPr>
              <a:spcAft>
                <a:spcPts val="800"/>
              </a:spcAft>
            </a:pPr>
            <a:r>
              <a:rPr lang="es-CO" sz="1600" dirty="0">
                <a:solidFill>
                  <a:srgbClr val="1C1B1F"/>
                </a:solidFill>
                <a:latin typeface="Roboto"/>
              </a:rPr>
              <a:t>• Servidor FHIR central como fuente única.</a:t>
            </a:r>
          </a:p>
          <a:p>
            <a:pPr>
              <a:spcAft>
                <a:spcPts val="800"/>
              </a:spcAft>
            </a:pPr>
            <a:r>
              <a:rPr lang="es-CO" sz="1600" dirty="0">
                <a:solidFill>
                  <a:srgbClr val="1C1B1F"/>
                </a:solidFill>
                <a:latin typeface="Roboto"/>
              </a:rPr>
              <a:t>• API REST para todos los canales.</a:t>
            </a:r>
          </a:p>
          <a:p>
            <a:pPr>
              <a:spcAft>
                <a:spcPts val="800"/>
              </a:spcAft>
            </a:pPr>
            <a:r>
              <a:rPr lang="es-CO" sz="1600" dirty="0">
                <a:solidFill>
                  <a:srgbClr val="1C1B1F"/>
                </a:solidFill>
                <a:latin typeface="Roboto"/>
              </a:rPr>
              <a:t>• Reglas por cobertura y disponibilidad.</a:t>
            </a:r>
          </a:p>
          <a:p>
            <a:pPr>
              <a:spcAft>
                <a:spcPts val="800"/>
              </a:spcAft>
            </a:pPr>
            <a:r>
              <a:rPr lang="es-CO" sz="1600" dirty="0">
                <a:solidFill>
                  <a:srgbClr val="1C1B1F"/>
                </a:solidFill>
                <a:latin typeface="Roboto"/>
              </a:rPr>
              <a:t>• Confirmación automática y trazabilidad</a:t>
            </a:r>
            <a:r>
              <a:rPr sz="1600" dirty="0">
                <a:solidFill>
                  <a:srgbClr val="1C1B1F"/>
                </a:solidFill>
                <a:latin typeface="Roboto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384" y="1920240"/>
            <a:ext cx="5074920" cy="4114800"/>
          </a:xfrm>
          <a:prstGeom prst="roundRect">
            <a:avLst/>
          </a:prstGeom>
          <a:solidFill>
            <a:srgbClr val="E7F7EE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200" b="1" dirty="0">
                <a:solidFill>
                  <a:srgbClr val="006A3A"/>
                </a:solidFill>
                <a:latin typeface="Roboto"/>
              </a:rPr>
              <a:t>Impacto esperado</a:t>
            </a:r>
          </a:p>
          <a:p>
            <a:pPr>
              <a:spcAft>
                <a:spcPts val="800"/>
              </a:spcAft>
            </a:pPr>
            <a:r>
              <a:rPr lang="es-CO" sz="1600" dirty="0">
                <a:solidFill>
                  <a:srgbClr val="1C1B1F"/>
                </a:solidFill>
                <a:latin typeface="Roboto"/>
              </a:rPr>
              <a:t>• Menos errores de agenda.</a:t>
            </a:r>
          </a:p>
          <a:p>
            <a:pPr>
              <a:spcAft>
                <a:spcPts val="800"/>
              </a:spcAft>
            </a:pPr>
            <a:r>
              <a:rPr lang="es-CO" sz="1600" dirty="0">
                <a:solidFill>
                  <a:srgbClr val="1C1B1F"/>
                </a:solidFill>
                <a:latin typeface="Roboto"/>
              </a:rPr>
              <a:t>• Mejor experiencia del paciente.</a:t>
            </a:r>
          </a:p>
          <a:p>
            <a:pPr>
              <a:spcAft>
                <a:spcPts val="800"/>
              </a:spcAft>
            </a:pPr>
            <a:r>
              <a:rPr lang="es-CO" sz="1600" dirty="0">
                <a:solidFill>
                  <a:srgbClr val="1C1B1F"/>
                </a:solidFill>
                <a:latin typeface="Roboto"/>
              </a:rPr>
              <a:t>• Operación medica mas eficiente.</a:t>
            </a:r>
          </a:p>
          <a:p>
            <a:pPr>
              <a:spcAft>
                <a:spcPts val="800"/>
              </a:spcAft>
            </a:pPr>
            <a:r>
              <a:rPr lang="es-CO" sz="1600" dirty="0">
                <a:solidFill>
                  <a:srgbClr val="1C1B1F"/>
                </a:solidFill>
                <a:latin typeface="Roboto"/>
              </a:rPr>
              <a:t>• Base para integraciones futuras</a:t>
            </a:r>
            <a:r>
              <a:rPr sz="1600" dirty="0">
                <a:solidFill>
                  <a:srgbClr val="1C1B1F"/>
                </a:solidFill>
                <a:latin typeface="Roboto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305" y="6355080"/>
            <a:ext cx="12191695" cy="5029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90044" y="6473953"/>
            <a:ext cx="29145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4464F"/>
                </a:solidFill>
                <a:latin typeface="Roboto"/>
              </a:rPr>
              <a:t>Agenda FHIR ACME Salud | 04/05/2026 | Slide 3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24"/>
            <a:ext cx="12191695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21039" y="147228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6CC"/>
                </a:solidFill>
              </a:rPr>
              <a:t>ACME SALUD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2107" y="145867"/>
            <a:ext cx="1508760" cy="475488"/>
          </a:xfrm>
          <a:prstGeom prst="roundRect">
            <a:avLst/>
          </a:prstGeom>
          <a:solidFill>
            <a:srgbClr val="00A859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FHIR 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2485"/>
            <a:ext cx="42739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4999"/>
                </a:solidFill>
                <a:latin typeface="Roboto"/>
              </a:rPr>
              <a:t>Arquitectura Ejecutiva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1921164"/>
            <a:ext cx="5440680" cy="4114800"/>
          </a:xfrm>
          <a:prstGeom prst="roundRect">
            <a:avLst/>
          </a:prstGeom>
          <a:solidFill>
            <a:srgbClr val="D4E3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 err="1">
                <a:solidFill>
                  <a:srgbClr val="004999"/>
                </a:solidFill>
                <a:latin typeface="Roboto"/>
              </a:rPr>
              <a:t>Capa</a:t>
            </a:r>
            <a:r>
              <a:rPr sz="2200" b="1" dirty="0">
                <a:solidFill>
                  <a:srgbClr val="004999"/>
                </a:solidFill>
                <a:latin typeface="Roboto"/>
              </a:rPr>
              <a:t> de </a:t>
            </a:r>
            <a:r>
              <a:rPr sz="2200" b="1" dirty="0" err="1">
                <a:solidFill>
                  <a:srgbClr val="004999"/>
                </a:solidFill>
                <a:latin typeface="Roboto"/>
              </a:rPr>
              <a:t>canales</a:t>
            </a:r>
            <a:endParaRPr sz="2200" b="1" dirty="0">
              <a:solidFill>
                <a:srgbClr val="004999"/>
              </a:solidFill>
              <a:latin typeface="Roboto"/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1C1B1F"/>
                </a:solidFill>
                <a:latin typeface="Roboto"/>
              </a:rPr>
              <a:t>• Web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1C1B1F"/>
                </a:solidFill>
                <a:latin typeface="Roboto"/>
              </a:rPr>
              <a:t>• App </a:t>
            </a:r>
            <a:r>
              <a:rPr sz="1600" dirty="0" err="1">
                <a:solidFill>
                  <a:srgbClr val="1C1B1F"/>
                </a:solidFill>
                <a:latin typeface="Roboto"/>
              </a:rPr>
              <a:t>movil</a:t>
            </a:r>
            <a:endParaRPr sz="1600" dirty="0">
              <a:solidFill>
                <a:srgbClr val="1C1B1F"/>
              </a:solidFill>
              <a:latin typeface="Roboto"/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1C1B1F"/>
                </a:solidFill>
                <a:latin typeface="Roboto"/>
              </a:rPr>
              <a:t>• Call Center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1C1B1F"/>
                </a:solidFill>
                <a:latin typeface="Roboto"/>
              </a:rPr>
              <a:t>• </a:t>
            </a:r>
            <a:r>
              <a:rPr sz="1600" dirty="0" err="1">
                <a:solidFill>
                  <a:srgbClr val="1C1B1F"/>
                </a:solidFill>
                <a:latin typeface="Roboto"/>
              </a:rPr>
              <a:t>Ventanilla</a:t>
            </a:r>
            <a:r>
              <a:rPr sz="1600" dirty="0">
                <a:solidFill>
                  <a:srgbClr val="1C1B1F"/>
                </a:solidFill>
                <a:latin typeface="Roboto"/>
              </a:rPr>
              <a:t> HIS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921164"/>
            <a:ext cx="5074920" cy="4114800"/>
          </a:xfrm>
          <a:prstGeom prst="roundRect">
            <a:avLst/>
          </a:prstGeom>
          <a:solidFill>
            <a:srgbClr val="E7F7EE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 err="1">
                <a:solidFill>
                  <a:srgbClr val="006A3A"/>
                </a:solidFill>
                <a:latin typeface="Roboto"/>
              </a:rPr>
              <a:t>Capa</a:t>
            </a:r>
            <a:r>
              <a:rPr sz="2200" b="1" dirty="0">
                <a:solidFill>
                  <a:srgbClr val="006A3A"/>
                </a:solidFill>
                <a:latin typeface="Roboto"/>
              </a:rPr>
              <a:t> central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1C1B1F"/>
                </a:solidFill>
                <a:latin typeface="Roboto"/>
              </a:rPr>
              <a:t>• API Gateway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1C1B1F"/>
                </a:solidFill>
                <a:latin typeface="Roboto"/>
              </a:rPr>
              <a:t>• Laravel 11 FHIR Server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1C1B1F"/>
                </a:solidFill>
                <a:latin typeface="Roboto"/>
              </a:rPr>
              <a:t>• PostgreSQL + Redis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1C1B1F"/>
                </a:solidFill>
                <a:latin typeface="Roboto"/>
              </a:rPr>
              <a:t>• OAuth2 y auditoria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6004"/>
            <a:ext cx="12191695" cy="5029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89739" y="6474877"/>
            <a:ext cx="29145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4464F"/>
                </a:solidFill>
                <a:latin typeface="Roboto"/>
              </a:rPr>
              <a:t>Agenda FHIR ACME Salud | 04/05/2026 | Slide 4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21039" y="146304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6CC"/>
                </a:solidFill>
              </a:rPr>
              <a:t>ACME SALUD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2107" y="146304"/>
            <a:ext cx="1508760" cy="475488"/>
          </a:xfrm>
          <a:prstGeom prst="roundRect">
            <a:avLst/>
          </a:prstGeom>
          <a:solidFill>
            <a:srgbClr val="00A859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FHIR 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1"/>
            <a:ext cx="42290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4999"/>
                </a:solidFill>
                <a:latin typeface="Roboto"/>
              </a:rPr>
              <a:t>Recursos FHIR y Flujo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874520"/>
            <a:ext cx="9458038" cy="1831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 dirty="0">
                <a:solidFill>
                  <a:srgbClr val="1C1B1F"/>
                </a:solidFill>
                <a:latin typeface="Roboto"/>
              </a:rPr>
              <a:t>11 </a:t>
            </a:r>
            <a:r>
              <a:rPr lang="es-CO" sz="2200" dirty="0">
                <a:solidFill>
                  <a:srgbClr val="1C1B1F"/>
                </a:solidFill>
                <a:latin typeface="Roboto"/>
              </a:rPr>
              <a:t>recursos FHIR implementados (</a:t>
            </a:r>
            <a:r>
              <a:rPr lang="es-CO" sz="2200" dirty="0" err="1">
                <a:solidFill>
                  <a:srgbClr val="1C1B1F"/>
                </a:solidFill>
                <a:latin typeface="Roboto"/>
              </a:rPr>
              <a:t>Organization</a:t>
            </a:r>
            <a:r>
              <a:rPr lang="es-CO" sz="2200" dirty="0">
                <a:solidFill>
                  <a:srgbClr val="1C1B1F"/>
                </a:solidFill>
                <a:latin typeface="Roboto"/>
              </a:rPr>
              <a:t> a </a:t>
            </a:r>
            <a:r>
              <a:rPr lang="es-CO" sz="2200" dirty="0" err="1">
                <a:solidFill>
                  <a:srgbClr val="1C1B1F"/>
                </a:solidFill>
                <a:latin typeface="Roboto"/>
              </a:rPr>
              <a:t>AppointmentResponse</a:t>
            </a:r>
            <a:r>
              <a:rPr lang="es-CO" sz="2200" dirty="0">
                <a:solidFill>
                  <a:srgbClr val="1C1B1F"/>
                </a:solidFill>
                <a:latin typeface="Roboto"/>
              </a:rPr>
              <a:t>).</a:t>
            </a:r>
          </a:p>
          <a:p>
            <a:pPr>
              <a:spcAft>
                <a:spcPts val="1000"/>
              </a:spcAft>
            </a:pPr>
            <a:r>
              <a:rPr lang="es-CO" sz="2200" dirty="0">
                <a:solidFill>
                  <a:srgbClr val="1C1B1F"/>
                </a:solidFill>
                <a:latin typeface="Roboto"/>
              </a:rPr>
              <a:t>Consulta de slots en tiempo real por servicio y sede.</a:t>
            </a:r>
          </a:p>
          <a:p>
            <a:pPr>
              <a:spcAft>
                <a:spcPts val="1000"/>
              </a:spcAft>
            </a:pPr>
            <a:r>
              <a:rPr lang="es-CO" sz="2200" dirty="0">
                <a:solidFill>
                  <a:srgbClr val="1C1B1F"/>
                </a:solidFill>
                <a:latin typeface="Roboto"/>
              </a:rPr>
              <a:t>Creación de </a:t>
            </a:r>
            <a:r>
              <a:rPr lang="es-CO" sz="2200" dirty="0" err="1">
                <a:solidFill>
                  <a:srgbClr val="1C1B1F"/>
                </a:solidFill>
                <a:latin typeface="Roboto"/>
              </a:rPr>
              <a:t>Appointment</a:t>
            </a:r>
            <a:r>
              <a:rPr lang="es-CO" sz="2200" dirty="0">
                <a:solidFill>
                  <a:srgbClr val="1C1B1F"/>
                </a:solidFill>
                <a:latin typeface="Roboto"/>
              </a:rPr>
              <a:t> y bloqueo atómico de slot.</a:t>
            </a:r>
          </a:p>
          <a:p>
            <a:pPr>
              <a:spcAft>
                <a:spcPts val="1000"/>
              </a:spcAft>
            </a:pPr>
            <a:r>
              <a:rPr lang="es-CO" sz="2200" dirty="0">
                <a:solidFill>
                  <a:srgbClr val="1C1B1F"/>
                </a:solidFill>
                <a:latin typeface="Roboto"/>
              </a:rPr>
              <a:t>Notificaciones y seguimiento de estado de cita.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89739" y="6473953"/>
            <a:ext cx="29145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4464F"/>
                </a:solidFill>
                <a:latin typeface="Roboto"/>
              </a:rPr>
              <a:t>Agenda FHIR ACME Salud | 04/05/2026 | Slide 5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21039" y="146304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6CC"/>
                </a:solidFill>
              </a:rPr>
              <a:t>ACME SALUD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2107" y="146304"/>
            <a:ext cx="1508760" cy="475488"/>
          </a:xfrm>
          <a:prstGeom prst="roundRect">
            <a:avLst/>
          </a:prstGeom>
          <a:solidFill>
            <a:srgbClr val="00A859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FHIR 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1"/>
            <a:ext cx="53896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ES" sz="3200" b="1" dirty="0" err="1">
                <a:solidFill>
                  <a:srgbClr val="004999"/>
                </a:solidFill>
                <a:latin typeface="Roboto"/>
              </a:rPr>
              <a:t>Wireframes</a:t>
            </a:r>
            <a:r>
              <a:rPr lang="es-ES" sz="3200" b="1" dirty="0">
                <a:solidFill>
                  <a:srgbClr val="004999"/>
                </a:solidFill>
                <a:latin typeface="Roboto"/>
              </a:rPr>
              <a:t> - Agendamiento</a:t>
            </a:r>
            <a:endParaRPr sz="3200" b="1" dirty="0">
              <a:solidFill>
                <a:srgbClr val="004999"/>
              </a:solidFill>
              <a:latin typeface="Robot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89739" y="6473953"/>
            <a:ext cx="29145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4464F"/>
                </a:solidFill>
                <a:latin typeface="Roboto"/>
              </a:rPr>
              <a:t>Agenda FHIR ACME Salud | 04/05/2026 | Slide 5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F0E2C22-CC6B-48D5-BB78-D7CF001DA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656" y="1688877"/>
            <a:ext cx="8073909" cy="46136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8264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21039" y="146304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6CC"/>
                </a:solidFill>
              </a:rPr>
              <a:t>ACME SALUD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2107" y="146304"/>
            <a:ext cx="1508760" cy="475488"/>
          </a:xfrm>
          <a:prstGeom prst="roundRect">
            <a:avLst/>
          </a:prstGeom>
          <a:solidFill>
            <a:srgbClr val="00A859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FHIR 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1"/>
            <a:ext cx="53896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ES" sz="3200" b="1" dirty="0" err="1">
                <a:solidFill>
                  <a:srgbClr val="004999"/>
                </a:solidFill>
                <a:latin typeface="Roboto"/>
              </a:rPr>
              <a:t>Wireframes</a:t>
            </a:r>
            <a:r>
              <a:rPr lang="es-ES" sz="3200" b="1" dirty="0">
                <a:solidFill>
                  <a:srgbClr val="004999"/>
                </a:solidFill>
                <a:latin typeface="Roboto"/>
              </a:rPr>
              <a:t> - Agendamiento</a:t>
            </a:r>
            <a:endParaRPr sz="3200" b="1" dirty="0">
              <a:solidFill>
                <a:srgbClr val="004999"/>
              </a:solidFill>
              <a:latin typeface="Robot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89739" y="6473953"/>
            <a:ext cx="29145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4464F"/>
                </a:solidFill>
                <a:latin typeface="Roboto"/>
              </a:rPr>
              <a:t>Agenda FHIR ACME Salud | 04/05/2026 | Slide 5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27968B8-D921-48C4-9383-BC07B9CCF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73" y="1962747"/>
            <a:ext cx="5761574" cy="40659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F5F6B3F-8803-49FF-8265-0517FB366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1885075"/>
            <a:ext cx="5761574" cy="41070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14818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21039" y="146304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6CC"/>
                </a:solidFill>
              </a:rPr>
              <a:t>ACME SALUD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2107" y="146304"/>
            <a:ext cx="1508760" cy="475488"/>
          </a:xfrm>
          <a:prstGeom prst="roundRect">
            <a:avLst/>
          </a:prstGeom>
          <a:solidFill>
            <a:srgbClr val="00A859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FHIR 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1"/>
            <a:ext cx="53896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ES" sz="3200" b="1" dirty="0" err="1">
                <a:solidFill>
                  <a:srgbClr val="004999"/>
                </a:solidFill>
                <a:latin typeface="Roboto"/>
              </a:rPr>
              <a:t>Wireframes</a:t>
            </a:r>
            <a:r>
              <a:rPr lang="es-ES" sz="3200" b="1" dirty="0">
                <a:solidFill>
                  <a:srgbClr val="004999"/>
                </a:solidFill>
                <a:latin typeface="Roboto"/>
              </a:rPr>
              <a:t> - Agendamiento</a:t>
            </a:r>
            <a:endParaRPr sz="3200" b="1" dirty="0">
              <a:solidFill>
                <a:srgbClr val="004999"/>
              </a:solidFill>
              <a:latin typeface="Robot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89739" y="6473953"/>
            <a:ext cx="29145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4464F"/>
                </a:solidFill>
                <a:latin typeface="Roboto"/>
              </a:rPr>
              <a:t>Agenda FHIR ACME Salud | 04/05/2026 | Slide 5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4137B57-813C-4733-8E8F-C824CABCD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3" y="1786472"/>
            <a:ext cx="5201662" cy="440928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9EA90DA-1C67-41B1-8BBA-86E0E1690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671" y="1864937"/>
            <a:ext cx="5585093" cy="44092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804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21039" y="146304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6CC"/>
                </a:solidFill>
              </a:rPr>
              <a:t>ACME SALUD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2107" y="146304"/>
            <a:ext cx="1508760" cy="475488"/>
          </a:xfrm>
          <a:prstGeom prst="roundRect">
            <a:avLst/>
          </a:prstGeom>
          <a:solidFill>
            <a:srgbClr val="00A859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FHIR 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1"/>
            <a:ext cx="53896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ES" sz="3200" b="1" dirty="0" err="1">
                <a:solidFill>
                  <a:srgbClr val="004999"/>
                </a:solidFill>
                <a:latin typeface="Roboto"/>
              </a:rPr>
              <a:t>Wireframes</a:t>
            </a:r>
            <a:r>
              <a:rPr lang="es-ES" sz="3200" b="1" dirty="0">
                <a:solidFill>
                  <a:srgbClr val="004999"/>
                </a:solidFill>
                <a:latin typeface="Roboto"/>
              </a:rPr>
              <a:t> - Agendamiento</a:t>
            </a:r>
            <a:endParaRPr sz="3200" b="1" dirty="0">
              <a:solidFill>
                <a:srgbClr val="004999"/>
              </a:solidFill>
              <a:latin typeface="Robot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89739" y="6473953"/>
            <a:ext cx="29145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4464F"/>
                </a:solidFill>
                <a:latin typeface="Roboto"/>
              </a:rPr>
              <a:t>Agenda FHIR ACME Salud | 04/05/2026 | Slide 5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E2D04E0-C748-40A6-BF8A-9739BB5CB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1520"/>
            <a:ext cx="4875267" cy="430837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6FA34B9-F6B8-4C68-B030-02A1AFC8E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949" y="1051561"/>
            <a:ext cx="4361004" cy="51009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92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21039" y="146304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6CC"/>
                </a:solidFill>
              </a:rPr>
              <a:t>ACME SALUD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2107" y="146304"/>
            <a:ext cx="1508760" cy="475488"/>
          </a:xfrm>
          <a:prstGeom prst="roundRect">
            <a:avLst/>
          </a:prstGeom>
          <a:solidFill>
            <a:srgbClr val="00A859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FHIR 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1"/>
            <a:ext cx="53896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ES" sz="3200" b="1" dirty="0" err="1">
                <a:solidFill>
                  <a:srgbClr val="004999"/>
                </a:solidFill>
                <a:latin typeface="Roboto"/>
              </a:rPr>
              <a:t>Wireframes</a:t>
            </a:r>
            <a:r>
              <a:rPr lang="es-ES" sz="3200" b="1" dirty="0">
                <a:solidFill>
                  <a:srgbClr val="004999"/>
                </a:solidFill>
                <a:latin typeface="Roboto"/>
              </a:rPr>
              <a:t> - Agendamiento</a:t>
            </a:r>
            <a:endParaRPr sz="3200" b="1" dirty="0">
              <a:solidFill>
                <a:srgbClr val="004999"/>
              </a:solidFill>
              <a:latin typeface="Robot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89739" y="6473953"/>
            <a:ext cx="29145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4464F"/>
                </a:solidFill>
                <a:latin typeface="Roboto"/>
              </a:rPr>
              <a:t>Agenda FHIR ACME Salud | 04/05/2026 | Slide 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0175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276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0732938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335</Words>
  <Application>Microsoft Office PowerPoint</Application>
  <PresentationFormat>Panorámica</PresentationFormat>
  <Paragraphs>70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Javier Gomez</cp:lastModifiedBy>
  <cp:revision>4</cp:revision>
  <dcterms:created xsi:type="dcterms:W3CDTF">2013-01-27T09:14:16Z</dcterms:created>
  <dcterms:modified xsi:type="dcterms:W3CDTF">2026-05-04T15:21:38Z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ACAD041B-7D78-4942-9BA0-B2910AEC74E0</vt:lpwstr>
  </property>
  <property fmtid="{D5CDD505-2E9C-101B-9397-08002B2CF9AE}" pid="3" name="ArticulatePath">
    <vt:lpwstr>Presentacion-Agenda-FHIR-Ejecutiva</vt:lpwstr>
  </property>
</Properties>
</file>